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eSXdgNraJPgAFoHIhABWRVmvg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1284768" y="354492"/>
            <a:ext cx="10155865" cy="61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pt-BR"/>
              <a:t>Diagnóstico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body" idx="1"/>
          </p:nvPr>
        </p:nvSpPr>
        <p:spPr>
          <a:xfrm>
            <a:off x="1220972" y="138969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A diretoria quer entender o comportamento das diárias praticadas na rede e a distribuição do faturamento entre as unidades. O que os dados revelam?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Existem unidades operando além de sua capacidade?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Existem unidades com performance de receita discrepante em relação às demais? </a:t>
            </a:r>
            <a:endParaRPr sz="18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Há relação entre o RevPAR das unidades e a avaliação média dos hóspedes?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Qual região apresenta maior variabilidade no faturamento? O que isso pode indicar para a gestão comercial?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93" y="129082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1439744" y="166116"/>
            <a:ext cx="9320037" cy="48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pt-BR"/>
              <a:t>Faturamento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8505645" y="8965"/>
            <a:ext cx="2424023" cy="482990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243689" y="865248"/>
            <a:ext cx="935697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unidades da Costa Verde apresentam os maiores faturamentos. Não foi identificado padrão de  sazonalidade.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região da baixada apresenta o menor faturamento do grupo. A unidade Nova Iguaçu Centro se destaca pelo faturamento muito inferior a média geral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 descr="blob:https://web.whatsapp.com/88632f89-c5ef-47f7-9e5a-69c02f5ad03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lob:https://web.whatsapp.com/88632f89-c5ef-47f7-9e5a-69c02f5ad03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B776EB2-DD3A-C9B7-3BA3-F6B650439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160" y="2342576"/>
            <a:ext cx="10604236" cy="3738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258991" y="155484"/>
            <a:ext cx="6428350" cy="48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pt-BR"/>
              <a:t>Faturamento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222745" y="839972"/>
            <a:ext cx="773027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recém lançada unidade Copacabana Premium apresenta faturamento baixo ao longo do ano, com picos em período de férias e grandes eventos.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 descr="blob:https://web.whatsapp.com/88632f89-c5ef-47f7-9e5a-69c02f5ad03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 descr="blob:https://web.whatsapp.com/88632f89-c5ef-47f7-9e5a-69c02f5ad03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 descr="C:\Users\Lucas\Downloads\WhatsApp Image 2026-09-23 at 09.56.08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0175" y="3715043"/>
            <a:ext cx="2941825" cy="289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363" y="2190307"/>
            <a:ext cx="8169997" cy="4504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9239692" y="3487480"/>
            <a:ext cx="224347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Fonte:Diário do Rio 21/07/25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187" y="135660"/>
            <a:ext cx="3313813" cy="3315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9462977" y="6581553"/>
            <a:ext cx="22470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Fonte:Diário do Rio 15/04/26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DF82DFCA-97E0-7FC2-62BD-BE04FB76614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1371485" y="133666"/>
            <a:ext cx="8852065" cy="10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/>
              <a:t>Performance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519627" y="1046271"/>
            <a:ext cx="101230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foi encontrado padrão de sazonalidade na maioria das unidades.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 unidade Nova Iguaçu Centro e Copacabana Premium, os picos de check-in ocorrem em um dia específico e não ao longo do mês.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8438" y="2061890"/>
            <a:ext cx="9706973" cy="43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901830" y="6390184"/>
            <a:ext cx="30624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Check-in em Nova Iguaçu Centro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6632B712-B665-F238-245D-CB6FDB01C5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1116303" y="0"/>
            <a:ext cx="8852065" cy="10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dirty="0"/>
              <a:t>Performance </a:t>
            </a:r>
            <a:endParaRPr dirty="0"/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6209" y="2151122"/>
            <a:ext cx="8811490" cy="438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5"/>
          <p:cNvCxnSpPr/>
          <p:nvPr/>
        </p:nvCxnSpPr>
        <p:spPr>
          <a:xfrm rot="5400000">
            <a:off x="7493194" y="2066309"/>
            <a:ext cx="961901" cy="58188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stealth" w="med" len="med"/>
          </a:ln>
        </p:spPr>
      </p:cxnSp>
      <p:cxnSp>
        <p:nvCxnSpPr>
          <p:cNvPr id="145" name="Google Shape;145;p5"/>
          <p:cNvCxnSpPr/>
          <p:nvPr/>
        </p:nvCxnSpPr>
        <p:spPr>
          <a:xfrm rot="5400000">
            <a:off x="9340036" y="2150635"/>
            <a:ext cx="961901" cy="58188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146" name="Google Shape;146;p5"/>
          <p:cNvSpPr txBox="1"/>
          <p:nvPr/>
        </p:nvSpPr>
        <p:spPr>
          <a:xfrm>
            <a:off x="3785616" y="6400800"/>
            <a:ext cx="632631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Excesso de hospedes por quarto na unidade Nova Iguaçu Centro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7808975" y="1319849"/>
            <a:ext cx="13881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 reservas excedidas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690937" y="1286250"/>
            <a:ext cx="190599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 reservas excedidas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219200" y="1105809"/>
            <a:ext cx="6096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do Rio de Janeiro e Centro de Nova Iguaçu apresentam os maiores valores de overbooking.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 dois casos, isso ocorreu em apenas dois dias: na unidade Centro 01/04/2025 e 07/11/2025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Nova Iguaçu centro 31/05/2025 e 05/02/2026.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6690BCE6-D8FC-F56C-533E-39FF39D3F0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000" y="1762655"/>
            <a:ext cx="9261372" cy="461193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 txBox="1"/>
          <p:nvPr/>
        </p:nvSpPr>
        <p:spPr>
          <a:xfrm>
            <a:off x="5053917" y="6383402"/>
            <a:ext cx="31710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Copacabana-Premium reservas excedidas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6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1126935" y="127591"/>
            <a:ext cx="8852065" cy="10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/>
              <a:t>Performance 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1243181" y="971843"/>
            <a:ext cx="101230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Overbooking, na maioria das unidades, não se demonstra constante ao longo dos meses, mas pontual.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Pode representar uma prática intencional ou um erro factual.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pratica impacta na avaliação e faturamento da unidade?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CD180DC9-4530-2695-3891-ECD0BAB32A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>
            <a:spLocks noGrp="1"/>
          </p:cNvSpPr>
          <p:nvPr>
            <p:ph type="title"/>
          </p:nvPr>
        </p:nvSpPr>
        <p:spPr>
          <a:xfrm>
            <a:off x="1233376" y="329609"/>
            <a:ext cx="9353107" cy="1169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pt-BR"/>
              <a:t>Impacto do excesso de hóspedes</a:t>
            </a:r>
            <a:br>
              <a:rPr lang="pt-BR"/>
            </a:br>
            <a:endParaRPr/>
          </a:p>
        </p:txBody>
      </p:sp>
      <p:pic>
        <p:nvPicPr>
          <p:cNvPr id="174" name="Google Shape;17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78405" y="3040912"/>
            <a:ext cx="9319978" cy="3285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1455832" y="1099433"/>
            <a:ext cx="877268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Média geral de avaliação da rede e de 6,93 e baixa correlação entre avaliação e receita por quarto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correlação entre avaliação e overbooking é muito forte negativa.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FCCD60A1-63C4-DFDD-0E40-0B9A54243D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1477925" y="170120"/>
            <a:ext cx="100584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Tendência de faturamento por quarto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438939" y="701749"/>
            <a:ext cx="66417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Tendência de dispersão de faturamento localizada em valores de avaliação relativamente próximos.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Indicativo de influencia no faturamento gerados por outros parâmetros para além da percepção do usuário.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 esquerda: variáveis possuem correlação negativa (linha de tendência subindo à direita) confirma que melhorar a satisfação do cliente puxa a receita para cima.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direita  o overbooking atua como uma âncora para a qualidade. Quanto </a:t>
            </a:r>
            <a:r>
              <a:rPr lang="pt-BR" sz="1600">
                <a:solidFill>
                  <a:schemeClr val="dk1"/>
                </a:solidFill>
              </a:rPr>
              <a:t>maior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menor será a avaliação do hóspede.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0773" y="3239349"/>
            <a:ext cx="4036198" cy="290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1194" y="3265721"/>
            <a:ext cx="4030899" cy="306585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1765005" y="6339261"/>
            <a:ext cx="38923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overbooking x avaliação do usuário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733416" y="6342804"/>
            <a:ext cx="38923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avaliação do usuário x Revpar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C46D74CA-3DE5-9945-AB20-9EEE8194846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>
            <a:spLocks noGrp="1"/>
          </p:cNvSpPr>
          <p:nvPr>
            <p:ph type="title"/>
          </p:nvPr>
        </p:nvSpPr>
        <p:spPr>
          <a:xfrm>
            <a:off x="1454889" y="205637"/>
            <a:ext cx="8635409" cy="82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pt-BR" sz="2800"/>
              <a:t>Comparativo de faturamento por região</a:t>
            </a:r>
            <a:endParaRPr sz="2800"/>
          </a:p>
        </p:txBody>
      </p:sp>
      <p:pic>
        <p:nvPicPr>
          <p:cNvPr id="207" name="Google Shape;207;p9" descr="C:\Users\Lucas\Downloads\WhatsApp Image 2026-09-23 at 14.45.04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6196" y="2509284"/>
            <a:ext cx="9756725" cy="34493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9"/>
          <p:cNvCxnSpPr/>
          <p:nvPr/>
        </p:nvCxnSpPr>
        <p:spPr>
          <a:xfrm rot="-5400000">
            <a:off x="5635261" y="5986133"/>
            <a:ext cx="520995" cy="1063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209" name="Google Shape;209;p9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605196" y="992839"/>
            <a:ext cx="935697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Assimetria: para onde pesa a balança?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 da curva de faturamento e equilibrio.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F6D3A676-621F-414F-0E5E-6E444CA1B3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>
            <a:spLocks noGrp="1"/>
          </p:cNvSpPr>
          <p:nvPr>
            <p:ph type="title"/>
          </p:nvPr>
        </p:nvSpPr>
        <p:spPr>
          <a:xfrm>
            <a:off x="1476155" y="322595"/>
            <a:ext cx="7285074" cy="6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pt-BR" sz="2800"/>
              <a:t>Coeficiente de variação</a:t>
            </a:r>
            <a:endParaRPr sz="2800"/>
          </a:p>
        </p:txBody>
      </p:sp>
      <p:sp>
        <p:nvSpPr>
          <p:cNvPr id="223" name="Google Shape;223;p10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9142" y="2402958"/>
            <a:ext cx="7549659" cy="395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/>
        </p:nvSpPr>
        <p:spPr>
          <a:xfrm>
            <a:off x="1488239" y="971573"/>
            <a:ext cx="935697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unidades faturam de forma parecida ou existe muita variação entre elas?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 de Copacabana: 171,61% de coeficiente de variação.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5E7117D3-EBC6-5C4F-34B3-CD358051E2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935665" cy="6858000"/>
          </a:xfrm>
          <a:prstGeom prst="rect">
            <a:avLst/>
          </a:prstGeom>
          <a:solidFill>
            <a:srgbClr val="12501B"/>
          </a:solidFill>
          <a:ln w="19050" cap="flat" cmpd="sng">
            <a:solidFill>
              <a:srgbClr val="3A7D2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1476155" y="322595"/>
            <a:ext cx="7285074" cy="6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pt-BR" sz="2800"/>
              <a:t>Conclusão</a:t>
            </a:r>
            <a:endParaRPr sz="2800"/>
          </a:p>
        </p:txBody>
      </p:sp>
      <p:sp>
        <p:nvSpPr>
          <p:cNvPr id="238" name="Google Shape;238;p11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 descr="https://static.wikia.nocookie.net/boruto/images/e/eb/Nara_Clan_Symbol.png/revision/latest?cb=2017090400060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1488250" y="971575"/>
            <a:ext cx="8678100" cy="6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unidades apresentam tendência de comportamento irregular. Um indicativo é a presença de valores discrepantes para baixo como é o caso das unidades Nova Iguaçu Centro, Copacabana e Rio Centro.</a:t>
            </a:r>
            <a:endParaRPr>
              <a:solidFill>
                <a:schemeClr val="dk1"/>
              </a:solidFill>
            </a:endParaRPr>
          </a:p>
          <a:p>
            <a:pPr marL="285750" lvl="0" indent="-17145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dados sugerem uma correlação relevante entre percepção do usuário e superlotação da unidade. Casos em que houveram overbooking a percepção do usuário foi fortemente impactada.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cálculos preditivos permitem questionar a centralidade da avaliação do usuário como fator principal do rendimento.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prática do overbooking, se intencional, revelou-se com tendência prejudicial ainda que eleve a receita da unidade.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unidade tem seu próprio mês de pico, sem coincidência entre elas, sugerindo normalidade entre feriados e períodos comemorativos.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 de 1 em cada 8 reservas não tem status de negócio registrado, sugerindo a necessidade de padronização dos processos de cadastramento dos dados.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1" descr="Shikamaru Nara | Wikia Liber Proeliis | Fando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 descr="Shikamaru Nara | Wikia Liber Proeliis | Fando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0750" y="2496175"/>
            <a:ext cx="3434400" cy="386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8142DF9B-69D8-77B1-A5C0-5D26546B8E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93" y="160338"/>
            <a:ext cx="744278" cy="74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Widescreen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Times New Roman</vt:lpstr>
      <vt:lpstr>Calibri</vt:lpstr>
      <vt:lpstr>Play</vt:lpstr>
      <vt:lpstr>Arial</vt:lpstr>
      <vt:lpstr>Tema do Office</vt:lpstr>
      <vt:lpstr>Diagnóstico</vt:lpstr>
      <vt:lpstr>Faturamento</vt:lpstr>
      <vt:lpstr>Faturamento</vt:lpstr>
      <vt:lpstr>Performance</vt:lpstr>
      <vt:lpstr>Performance </vt:lpstr>
      <vt:lpstr>Performance </vt:lpstr>
      <vt:lpstr>Impacto do excesso de hóspedes </vt:lpstr>
      <vt:lpstr>Apresentação do PowerPoint</vt:lpstr>
      <vt:lpstr>Comparativo de faturamento por região</vt:lpstr>
      <vt:lpstr>Coeficiente de variação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LUCAS SOUZA DE CARVALHO</dc:creator>
  <cp:lastModifiedBy>LUCAS SOUZA DE CARVALHO</cp:lastModifiedBy>
  <cp:revision>1</cp:revision>
  <dcterms:created xsi:type="dcterms:W3CDTF">2026-09-21T23:44:12Z</dcterms:created>
  <dcterms:modified xsi:type="dcterms:W3CDTF">2026-09-23T22:03:13Z</dcterms:modified>
</cp:coreProperties>
</file>